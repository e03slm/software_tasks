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688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71422"/>
          </a:solidFill>
          <a:ln w="12700">
            <a:solidFill>
              <a:srgbClr val="0714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Infusion Pump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65760" y="1783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Simulator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576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&amp; Requirements Report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3291840"/>
            <a:ext cx="2560320" cy="274320"/>
          </a:xfrm>
          <a:prstGeom prst="rect">
            <a:avLst/>
          </a:prstGeom>
          <a:solidFill>
            <a:srgbClr val="162232"/>
          </a:solidFill>
          <a:ln w="1016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3192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  Extended Edition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3639312"/>
            <a:ext cx="2560320" cy="274320"/>
          </a:xfrm>
          <a:prstGeom prst="rect">
            <a:avLst/>
          </a:prstGeom>
          <a:solidFill>
            <a:srgbClr val="162232"/>
          </a:solidFill>
          <a:ln w="1016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36667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(iOS/Android)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3986784"/>
            <a:ext cx="2560320" cy="274320"/>
          </a:xfrm>
          <a:prstGeom prst="rect">
            <a:avLst/>
          </a:prstGeom>
          <a:solidFill>
            <a:srgbClr val="162232"/>
          </a:solidFill>
          <a:ln w="1016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4014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PostgreSQL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334256"/>
            <a:ext cx="2560320" cy="274320"/>
          </a:xfrm>
          <a:prstGeom prst="rect">
            <a:avLst/>
          </a:prstGeom>
          <a:solidFill>
            <a:srgbClr val="162232"/>
          </a:solidFill>
          <a:ln w="1016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43616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4663440"/>
            <a:ext cx="1417320" cy="347472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00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4944" y="4700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920240" y="4663440"/>
            <a:ext cx="1417320" cy="347472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470001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49424" y="4700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474720" y="4663440"/>
            <a:ext cx="1417320" cy="347472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4700016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803904" y="4700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02920" cy="640080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362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63677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· Non-Functional · Safety · Security · Validation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502920" cy="640080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1671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093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Three-Tier Architecture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3682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Stack, Development Steps, DB Schema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20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761488"/>
            <a:ext cx="502920" cy="640080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898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825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Design Overview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09981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structure, State machine, Routing, Audit log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93008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502920" cy="6400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630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557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 Overview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383133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tokens, Screen inventory, Edge-case coverage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24528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224528"/>
            <a:ext cx="502920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3616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288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&amp; Traceability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5840" y="456285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layers, Test cases, Full traceability matrix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1 · REQUIREMENTS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5720" cy="3474720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Role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600200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163677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F-D-01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188720" y="1600200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234440" y="1636776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</a:rPr>
              <a:t>High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965960" y="1600200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039112" y="163677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View/Add/Edit/Delete drugs in the library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1947672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" y="198424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F-D-02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188720" y="1947672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234440" y="198424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965960" y="1947672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039112" y="19842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Define 4 mandatory drug parameters (conc., rate, hard/soft limits)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2295144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20040" y="233172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F-D-03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188720" y="2295144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234440" y="233172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</a:rPr>
              <a:t>High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965960" y="2295144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039112" y="23317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Read-only access to own infusion logs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2642616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20040" y="26791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F-D-04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188720" y="2642616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234440" y="2679192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Med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965960" y="2642616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039112" y="26791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Generate &amp; export PDF Infusion Summary / Alarm Frequency reports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663440" y="1188720"/>
            <a:ext cx="45720" cy="3474720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188720"/>
            <a:ext cx="320040" cy="32004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12064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 Role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4663440" y="1600200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4709160" y="163677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F-N-01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5577840" y="1600200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5623560" y="1636776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355080" y="1600200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6428232" y="163677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Select drugs from active library only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663440" y="1947672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709160" y="198424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F-N-04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577840" y="1947672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623560" y="198424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355080" y="1947672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6428232" y="19842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Real-time hard/soft limit validation on all inputs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4663440" y="2295144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4709160" y="233172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F-N-05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5577840" y="2295144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5623560" y="233172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6355080" y="2295144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6428232" y="23317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Start, Pause, Resume infusion controls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4663440" y="2642616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4709160" y="26791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F-N-06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5577840" y="2642616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5623560" y="2679192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6355080" y="2642616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4"/>
          <p:cNvSpPr/>
          <p:nvPr/>
        </p:nvSpPr>
        <p:spPr>
          <a:xfrm>
            <a:off x="6428232" y="26791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Emergency Stop — always visible, full-width, red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4663440" y="2990088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4709160" y="302666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F-N-07</a:t>
            </a:r>
            <a:endParaRPr lang="en-US" sz="1000" dirty="0"/>
          </a:p>
        </p:txBody>
      </p:sp>
      <p:sp>
        <p:nvSpPr>
          <p:cNvPr id="61" name="Shape 57"/>
          <p:cNvSpPr/>
          <p:nvPr/>
        </p:nvSpPr>
        <p:spPr>
          <a:xfrm>
            <a:off x="5577840" y="299008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/>
          <p:nvPr/>
        </p:nvSpPr>
        <p:spPr>
          <a:xfrm>
            <a:off x="5623560" y="302666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</a:rPr>
              <a:t>High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6355080" y="2990088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6428232" y="302666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1 Hz real-time pump dashboard (rate, vol, ETA, battery)</a:t>
            </a:r>
            <a:endParaRPr lang="en-US" sz="1000" dirty="0"/>
          </a:p>
        </p:txBody>
      </p:sp>
      <p:sp>
        <p:nvSpPr>
          <p:cNvPr id="65" name="Shape 61"/>
          <p:cNvSpPr/>
          <p:nvPr/>
        </p:nvSpPr>
        <p:spPr>
          <a:xfrm>
            <a:off x="4663440" y="3337560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2"/>
          <p:cNvSpPr/>
          <p:nvPr/>
        </p:nvSpPr>
        <p:spPr>
          <a:xfrm>
            <a:off x="4709160" y="33741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F-N-08</a:t>
            </a:r>
            <a:endParaRPr lang="en-US" sz="1000" dirty="0"/>
          </a:p>
        </p:txBody>
      </p:sp>
      <p:sp>
        <p:nvSpPr>
          <p:cNvPr id="67" name="Shape 63"/>
          <p:cNvSpPr/>
          <p:nvPr/>
        </p:nvSpPr>
        <p:spPr>
          <a:xfrm>
            <a:off x="5577840" y="3337560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4"/>
          <p:cNvSpPr/>
          <p:nvPr/>
        </p:nvSpPr>
        <p:spPr>
          <a:xfrm>
            <a:off x="5623560" y="3374136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6355080" y="3337560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6"/>
          <p:cNvSpPr/>
          <p:nvPr/>
        </p:nvSpPr>
        <p:spPr>
          <a:xfrm>
            <a:off x="6428232" y="337413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Alarm panel: acknowledge non-critical / resolve critical</a:t>
            </a:r>
            <a:endParaRPr lang="en-US" sz="1000" dirty="0"/>
          </a:p>
        </p:txBody>
      </p:sp>
      <p:sp>
        <p:nvSpPr>
          <p:cNvPr id="71" name="Shape 67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solidFill>
            <a:srgbClr val="162232"/>
          </a:solidFill>
          <a:ln w="1016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754880"/>
            <a:ext cx="228600" cy="228600"/>
          </a:xfrm>
          <a:prstGeom prst="rect">
            <a:avLst/>
          </a:prstGeom>
        </p:spPr>
      </p:pic>
      <p:sp>
        <p:nvSpPr>
          <p:cNvPr id="73" name="Text 68"/>
          <p:cNvSpPr/>
          <p:nvPr/>
        </p:nvSpPr>
        <p:spPr>
          <a:xfrm>
            <a:off x="640080" y="474573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 F-A-01 User Account CRUD (assign exactly one role)   ·   F-A-02 System health metrics &amp; audit log viewing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1 · REQUIREMENTS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3566160"/>
          </a:xfrm>
          <a:prstGeom prst="rect">
            <a:avLst/>
          </a:prstGeom>
          <a:solidFill>
            <a:srgbClr val="0B1622"/>
          </a:solidFill>
          <a:ln w="1524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9844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3167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8912" y="17830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N-N-01 (Critical)  Dashboard refresh ≥ 1 Hz, UI latency ≤ 100 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N-N-02 (Critical)  FSM response to nurse input ≤ 500 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N-D-01 (High)  PDF report gen ≤ 3 s for 1,000 entries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N-A-01 (Med)  Log export ≤ 10 s for 100,000 entries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160520" cy="3566160"/>
          </a:xfrm>
          <a:prstGeom prst="rect">
            <a:avLst/>
          </a:prstGeom>
          <a:solidFill>
            <a:srgbClr val="0B1622"/>
          </a:solidFill>
          <a:ln w="1524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29844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21808" y="13167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19472" y="17830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N-D-02 (High)  ≤ 3 taps to any drug library function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N-D-03 (High)  Real-time inline validation in Drug Editor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N-N-04 (High)  Nurse UI: contrast ratio ≥ 4.5:1 (WCAG AA)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type support, min touch target 44×44 pt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1 · REQUIREMENTS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&amp; Security Requirements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12435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Requirements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" y="1719072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175564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SF-D-01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188720" y="1719072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234440" y="175564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65960" y="1719072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039112" y="17556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Hard limits enforced by sim engine; violations blocked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066544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0040" y="210312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SF-D-02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188720" y="2066544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234440" y="210312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</a:rPr>
              <a:t>High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965960" y="2066544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039112" y="21031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Soft limits: yellow banner + mandatory acknowledgement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2414016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20040" y="24505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SF-D-03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188720" y="2414016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234440" y="2450592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Med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965960" y="2414016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039112" y="24505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Prevent deletion of drug in active infusion session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2761488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20040" y="279806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SF-N-01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188720" y="276148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234440" y="279806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965960" y="2761488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039112" y="279806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Start button disabled if any hard limit violated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4320" y="3108960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20040" y="31455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SF-N-02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188720" y="3108960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234440" y="3145536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1965960" y="3108960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039112" y="314553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Emergency Stop always visible, never covered by modals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74320" y="3456432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20040" y="349300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SF-N-03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188720" y="3456432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234440" y="349300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</a:rPr>
              <a:t>High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965960" y="3456432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2039112" y="34930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Battery warning at 20%; auto-stop + critical alarm at 5%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74320" y="3803904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20040" y="384048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SF-A-01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1188720" y="3803904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234440" y="38404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965960" y="3803904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039112" y="38404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Block deletion of last Admin account</a:t>
            </a:r>
            <a:endParaRPr lang="en-US" sz="1000" dirty="0"/>
          </a:p>
        </p:txBody>
      </p:sp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34440"/>
            <a:ext cx="347472" cy="347472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5065776" y="12435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Requirements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4663440" y="1719072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4709160" y="175564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S-ALL-01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5577840" y="1719072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5623560" y="175564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6355080" y="1719072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6428232" y="17556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Auth required for every role screen (National ID + password)</a:t>
            </a:r>
            <a:endParaRPr lang="en-US" sz="1000" dirty="0"/>
          </a:p>
        </p:txBody>
      </p:sp>
      <p:sp>
        <p:nvSpPr>
          <p:cNvPr id="57" name="Shape 53"/>
          <p:cNvSpPr/>
          <p:nvPr/>
        </p:nvSpPr>
        <p:spPr>
          <a:xfrm>
            <a:off x="4663440" y="2066544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4"/>
          <p:cNvSpPr/>
          <p:nvPr/>
        </p:nvSpPr>
        <p:spPr>
          <a:xfrm>
            <a:off x="4709160" y="210312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S-D-01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5577840" y="2066544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5623560" y="210312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6355080" y="2066544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/>
          <p:nvPr/>
        </p:nvSpPr>
        <p:spPr>
          <a:xfrm>
            <a:off x="6428232" y="21031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RBAC: only Doctor edits drug library &amp; generates reports</a:t>
            </a:r>
            <a:endParaRPr lang="en-US" sz="1000" dirty="0"/>
          </a:p>
        </p:txBody>
      </p:sp>
      <p:sp>
        <p:nvSpPr>
          <p:cNvPr id="63" name="Shape 59"/>
          <p:cNvSpPr/>
          <p:nvPr/>
        </p:nvSpPr>
        <p:spPr>
          <a:xfrm>
            <a:off x="4663440" y="2414016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4709160" y="24505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S-D-02</a:t>
            </a:r>
            <a:endParaRPr lang="en-US" sz="1000" dirty="0"/>
          </a:p>
        </p:txBody>
      </p:sp>
      <p:sp>
        <p:nvSpPr>
          <p:cNvPr id="65" name="Shape 61"/>
          <p:cNvSpPr/>
          <p:nvPr/>
        </p:nvSpPr>
        <p:spPr>
          <a:xfrm>
            <a:off x="5577840" y="2414016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2"/>
          <p:cNvSpPr/>
          <p:nvPr/>
        </p:nvSpPr>
        <p:spPr>
          <a:xfrm>
            <a:off x="5623560" y="2450592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</a:rPr>
              <a:t>High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6355080" y="2414016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4"/>
          <p:cNvSpPr/>
          <p:nvPr/>
        </p:nvSpPr>
        <p:spPr>
          <a:xfrm>
            <a:off x="6428232" y="24505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All Doctor actions logged in immutable audit log</a:t>
            </a:r>
            <a:endParaRPr lang="en-US" sz="1000" dirty="0"/>
          </a:p>
        </p:txBody>
      </p:sp>
      <p:sp>
        <p:nvSpPr>
          <p:cNvPr id="69" name="Shape 65"/>
          <p:cNvSpPr/>
          <p:nvPr/>
        </p:nvSpPr>
        <p:spPr>
          <a:xfrm>
            <a:off x="4663440" y="2761488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6"/>
          <p:cNvSpPr/>
          <p:nvPr/>
        </p:nvSpPr>
        <p:spPr>
          <a:xfrm>
            <a:off x="4709160" y="279806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S-N-01</a:t>
            </a:r>
            <a:endParaRPr lang="en-US" sz="1000" dirty="0"/>
          </a:p>
        </p:txBody>
      </p:sp>
      <p:sp>
        <p:nvSpPr>
          <p:cNvPr id="71" name="Shape 67"/>
          <p:cNvSpPr/>
          <p:nvPr/>
        </p:nvSpPr>
        <p:spPr>
          <a:xfrm>
            <a:off x="5577840" y="276148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8"/>
          <p:cNvSpPr/>
          <p:nvPr/>
        </p:nvSpPr>
        <p:spPr>
          <a:xfrm>
            <a:off x="5623560" y="279806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6355080" y="2761488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6428232" y="279806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Nurse barred from drug library, user mgmt, system config</a:t>
            </a:r>
            <a:endParaRPr lang="en-US" sz="1000" dirty="0"/>
          </a:p>
        </p:txBody>
      </p:sp>
      <p:sp>
        <p:nvSpPr>
          <p:cNvPr id="75" name="Shape 71"/>
          <p:cNvSpPr/>
          <p:nvPr/>
        </p:nvSpPr>
        <p:spPr>
          <a:xfrm>
            <a:off x="4663440" y="3108960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2"/>
          <p:cNvSpPr/>
          <p:nvPr/>
        </p:nvSpPr>
        <p:spPr>
          <a:xfrm>
            <a:off x="4709160" y="31455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S-A-01</a:t>
            </a:r>
            <a:endParaRPr lang="en-US" sz="1000" dirty="0"/>
          </a:p>
        </p:txBody>
      </p:sp>
      <p:sp>
        <p:nvSpPr>
          <p:cNvPr id="77" name="Shape 73"/>
          <p:cNvSpPr/>
          <p:nvPr/>
        </p:nvSpPr>
        <p:spPr>
          <a:xfrm>
            <a:off x="5577840" y="3108960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4"/>
          <p:cNvSpPr/>
          <p:nvPr/>
        </p:nvSpPr>
        <p:spPr>
          <a:xfrm>
            <a:off x="5623560" y="3145536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79" name="Shape 75"/>
          <p:cNvSpPr/>
          <p:nvPr/>
        </p:nvSpPr>
        <p:spPr>
          <a:xfrm>
            <a:off x="6355080" y="3108960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6"/>
          <p:cNvSpPr/>
          <p:nvPr/>
        </p:nvSpPr>
        <p:spPr>
          <a:xfrm>
            <a:off x="6428232" y="314553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Only Admin accesses user management</a:t>
            </a:r>
            <a:endParaRPr lang="en-US" sz="1000" dirty="0"/>
          </a:p>
        </p:txBody>
      </p:sp>
      <p:sp>
        <p:nvSpPr>
          <p:cNvPr id="81" name="Shape 77"/>
          <p:cNvSpPr/>
          <p:nvPr/>
        </p:nvSpPr>
        <p:spPr>
          <a:xfrm>
            <a:off x="4663440" y="3456432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8"/>
          <p:cNvSpPr/>
          <p:nvPr/>
        </p:nvSpPr>
        <p:spPr>
          <a:xfrm>
            <a:off x="4709160" y="349300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S-A-02</a:t>
            </a:r>
            <a:endParaRPr lang="en-US" sz="1000" dirty="0"/>
          </a:p>
        </p:txBody>
      </p:sp>
      <p:sp>
        <p:nvSpPr>
          <p:cNvPr id="83" name="Shape 79"/>
          <p:cNvSpPr/>
          <p:nvPr/>
        </p:nvSpPr>
        <p:spPr>
          <a:xfrm>
            <a:off x="5577840" y="3456432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0"/>
          <p:cNvSpPr/>
          <p:nvPr/>
        </p:nvSpPr>
        <p:spPr>
          <a:xfrm>
            <a:off x="5623560" y="349300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85" name="Shape 81"/>
          <p:cNvSpPr/>
          <p:nvPr/>
        </p:nvSpPr>
        <p:spPr>
          <a:xfrm>
            <a:off x="6355080" y="3456432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2"/>
          <p:cNvSpPr/>
          <p:nvPr/>
        </p:nvSpPr>
        <p:spPr>
          <a:xfrm>
            <a:off x="6428232" y="34930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0F4F8"/>
                </a:solidFill>
              </a:rPr>
              <a:t>Admin password : </a:t>
            </a:r>
            <a:r>
              <a:rPr lang="en-US" sz="1000" dirty="0" err="1">
                <a:solidFill>
                  <a:srgbClr val="F0F4F8"/>
                </a:solidFill>
              </a:rPr>
              <a:t>bcrypt</a:t>
            </a:r>
            <a:r>
              <a:rPr lang="en-US" sz="1000" dirty="0">
                <a:solidFill>
                  <a:srgbClr val="F0F4F8"/>
                </a:solidFill>
              </a:rPr>
              <a:t>, cost factor ≥ 12,</a:t>
            </a:r>
            <a:br>
              <a:rPr lang="en-US" sz="1000" dirty="0">
                <a:solidFill>
                  <a:srgbClr val="F0F4F8"/>
                </a:solidFill>
              </a:rPr>
            </a:br>
            <a:r>
              <a:rPr lang="en-US" sz="1000" dirty="0">
                <a:solidFill>
                  <a:srgbClr val="F0F4F8"/>
                </a:solidFill>
              </a:rPr>
              <a:t>National ID </a:t>
            </a:r>
            <a:r>
              <a:rPr lang="en-US" sz="1000">
                <a:solidFill>
                  <a:srgbClr val="F0F4F8"/>
                </a:solidFill>
              </a:rPr>
              <a:t>is encrypted by sha256</a:t>
            </a:r>
            <a:endParaRPr lang="en-US" sz="1000" dirty="0"/>
          </a:p>
        </p:txBody>
      </p:sp>
      <p:sp>
        <p:nvSpPr>
          <p:cNvPr id="87" name="Shape 83"/>
          <p:cNvSpPr/>
          <p:nvPr/>
        </p:nvSpPr>
        <p:spPr>
          <a:xfrm>
            <a:off x="4663440" y="3803904"/>
            <a:ext cx="914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4"/>
          <p:cNvSpPr/>
          <p:nvPr/>
        </p:nvSpPr>
        <p:spPr>
          <a:xfrm>
            <a:off x="4709160" y="384048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S-A-03</a:t>
            </a:r>
            <a:endParaRPr lang="en-US" sz="1000" dirty="0"/>
          </a:p>
        </p:txBody>
      </p:sp>
      <p:sp>
        <p:nvSpPr>
          <p:cNvPr id="89" name="Shape 85"/>
          <p:cNvSpPr/>
          <p:nvPr/>
        </p:nvSpPr>
        <p:spPr>
          <a:xfrm>
            <a:off x="5577840" y="3803904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6"/>
          <p:cNvSpPr/>
          <p:nvPr/>
        </p:nvSpPr>
        <p:spPr>
          <a:xfrm>
            <a:off x="5623560" y="38404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</a:rPr>
              <a:t>High</a:t>
            </a:r>
            <a:endParaRPr lang="en-US" sz="900" dirty="0"/>
          </a:p>
        </p:txBody>
      </p:sp>
      <p:sp>
        <p:nvSpPr>
          <p:cNvPr id="91" name="Shape 87"/>
          <p:cNvSpPr/>
          <p:nvPr/>
        </p:nvSpPr>
        <p:spPr>
          <a:xfrm>
            <a:off x="6355080" y="3803904"/>
            <a:ext cx="2514600" cy="32004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8"/>
          <p:cNvSpPr/>
          <p:nvPr/>
        </p:nvSpPr>
        <p:spPr>
          <a:xfrm>
            <a:off x="6428232" y="38404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0F4F8"/>
                </a:solidFill>
              </a:rPr>
              <a:t>Admin session timeout: 10 min (Doctor/Nurse: 15 min)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2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Three-Tier Architecture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743200" cy="3767328"/>
          </a:xfrm>
          <a:prstGeom prst="rect">
            <a:avLst/>
          </a:prstGeom>
          <a:solidFill>
            <a:srgbClr val="0B1622"/>
          </a:solidFill>
          <a:ln w="1905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743200" cy="640080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161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" y="1444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1920240"/>
            <a:ext cx="254203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3.x + GoRouter 14.x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Role-isolated screen trees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badge in AppBar always visible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 banners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99232" y="3017520"/>
            <a:ext cx="201168" cy="0"/>
          </a:xfrm>
          <a:prstGeom prst="line">
            <a:avLst/>
          </a:prstGeom>
          <a:noFill/>
          <a:ln w="19050">
            <a:solidFill>
              <a:srgbClr val="809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170432"/>
            <a:ext cx="2743200" cy="3767328"/>
          </a:xfrm>
          <a:prstGeom prst="rect">
            <a:avLst/>
          </a:prstGeom>
          <a:solidFill>
            <a:srgbClr val="0B1622"/>
          </a:solidFill>
          <a:ln w="1905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00400" y="1170432"/>
            <a:ext cx="2743200" cy="640080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1615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30752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730752" y="1444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Logic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310128" y="1920240"/>
            <a:ext cx="254203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2.5 StateNotifier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Infusion FSM (10 states)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LimitValidator · BatterySimulator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AuditLogger dispatch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guard logic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0" y="3017520"/>
            <a:ext cx="201168" cy="0"/>
          </a:xfrm>
          <a:prstGeom prst="line">
            <a:avLst/>
          </a:prstGeom>
          <a:noFill/>
          <a:ln w="19050">
            <a:solidFill>
              <a:srgbClr val="809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44768" y="1170432"/>
            <a:ext cx="2743200" cy="3767328"/>
          </a:xfrm>
          <a:prstGeom prst="rect">
            <a:avLst/>
          </a:prstGeom>
          <a:solidFill>
            <a:srgbClr val="0B1622"/>
          </a:solidFill>
          <a:ln w="19050">
            <a:solidFill>
              <a:srgbClr val="620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144768" y="1170432"/>
            <a:ext cx="2743200" cy="640080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216152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675120" y="1444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54496" y="1920240"/>
            <a:ext cx="254203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(Auth + PostgreSQL + Realtime + Storage)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SQLite — offline fallback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every 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 · TLS in transit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audit_log (RLS block UPDATE/DELETE)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2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005840" cy="274320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9184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1828800" cy="274320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55264" y="12070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Technology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1188720"/>
            <a:ext cx="3749040" cy="274320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75504" y="1207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Purpose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10058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481328"/>
            <a:ext cx="18288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20640" y="1481328"/>
            <a:ext cx="37490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481328"/>
            <a:ext cx="54864" cy="347472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527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5D"/>
                </a:solidFill>
              </a:rPr>
              <a:t>UI Framework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73552" y="15270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</a:rPr>
              <a:t>Flutter 3.x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93792" y="152704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iOS &amp; Android from single Dart codebase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847088"/>
            <a:ext cx="1005840" cy="34747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1847088"/>
            <a:ext cx="1828800" cy="34747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1847088"/>
            <a:ext cx="3749040" cy="34747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1847088"/>
            <a:ext cx="54864" cy="347472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1892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EA4"/>
                </a:solidFill>
              </a:rPr>
              <a:t>State Mgmt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73552" y="1892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</a:rPr>
              <a:t>Riverpod 2.5 + riverpod_annotation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93792" y="189280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compile-safe provider hierarchy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212848"/>
            <a:ext cx="10058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2212848"/>
            <a:ext cx="18288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120640" y="2212848"/>
            <a:ext cx="37490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212848"/>
            <a:ext cx="54864" cy="347472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2258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EA4"/>
                </a:solidFill>
              </a:rPr>
              <a:t>Routing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73552" y="225856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</a:rPr>
              <a:t>GoRouter 14.x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93792" y="225856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routing with RBAC redirect guard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578608"/>
            <a:ext cx="1005840" cy="34747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0" y="2578608"/>
            <a:ext cx="1828800" cy="34747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20640" y="2578608"/>
            <a:ext cx="3749040" cy="34747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2578608"/>
            <a:ext cx="54864" cy="347472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2624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00EA"/>
                </a:solidFill>
              </a:rPr>
              <a:t>Backend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73552" y="262432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</a:rPr>
              <a:t>Supabase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93792" y="26243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PostgreSQL, Realtime WebSocket, Storage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2944368"/>
            <a:ext cx="10058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00400" y="2944368"/>
            <a:ext cx="18288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120640" y="2944368"/>
            <a:ext cx="37490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2944368"/>
            <a:ext cx="54864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2990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Offline DB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73552" y="299008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</a:rPr>
              <a:t>Drift (SQLite)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93792" y="299008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fallback for simulation continuity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310128"/>
            <a:ext cx="1005840" cy="34747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00400" y="3310128"/>
            <a:ext cx="1828800" cy="34747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120640" y="3310128"/>
            <a:ext cx="3749040" cy="34747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74320" y="3310128"/>
            <a:ext cx="54864" cy="347472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5760" y="33558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5D"/>
                </a:solidFill>
              </a:rPr>
              <a:t>Models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73552" y="33558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</a:rPr>
              <a:t>freezed + json_serializable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93792" y="335584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copyWith-able, JSON-serialisable domain models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675888"/>
            <a:ext cx="10058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200400" y="3675888"/>
            <a:ext cx="18288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120640" y="3675888"/>
            <a:ext cx="37490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74320" y="3675888"/>
            <a:ext cx="54864" cy="3474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5760" y="3721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</a:rPr>
              <a:t>PDF Export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273552" y="37216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</a:rPr>
              <a:t>pdf 3.11 + printing 5.13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193792" y="372160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clinical reports from Doctor role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" y="4041648"/>
            <a:ext cx="1005840" cy="34747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200400" y="4041648"/>
            <a:ext cx="1828800" cy="34747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120640" y="4041648"/>
            <a:ext cx="3749040" cy="34747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74320" y="4041648"/>
            <a:ext cx="54864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65760" y="4087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</a:rPr>
              <a:t>Security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273552" y="408736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</a:rPr>
              <a:t>flutter_secure_storage + local_auth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193792" y="408736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keychain token storage · Biometric auth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2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Build Sequence (10 Steps)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621792"/>
          </a:xfrm>
          <a:prstGeom prst="rect">
            <a:avLst/>
          </a:prstGeom>
          <a:solidFill>
            <a:srgbClr val="0B1622"/>
          </a:solidFill>
          <a:ln w="1270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" cy="621792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2710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Shell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5270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UI → Supabase Auth → role-routing after login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4114800" cy="621792"/>
          </a:xfrm>
          <a:prstGeom prst="rect">
            <a:avLst/>
          </a:prstGeom>
          <a:solidFill>
            <a:srgbClr val="0B1622"/>
          </a:solidFill>
          <a:ln w="1270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956816"/>
            <a:ext cx="411480" cy="621792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0939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19933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Router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2494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GoRouter ShellRoutes · RBAC redirect · AccessDeniedScreen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79192"/>
            <a:ext cx="4114800" cy="621792"/>
          </a:xfrm>
          <a:prstGeom prst="rect">
            <a:avLst/>
          </a:prstGeom>
          <a:solidFill>
            <a:srgbClr val="0B1622"/>
          </a:solidFill>
          <a:ln w="1270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679192"/>
            <a:ext cx="411480" cy="621792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816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27157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 UI Shell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29718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PumpDashboard · Controls · EmergencyStop · InfusionNotifier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4114800" cy="621792"/>
          </a:xfrm>
          <a:prstGeom prst="rect">
            <a:avLst/>
          </a:prstGeom>
          <a:solidFill>
            <a:srgbClr val="0B1622"/>
          </a:solidFill>
          <a:ln w="1270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411480" cy="621792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5387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7240" y="34381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 Logic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6941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BatterySimulator · LimitValidator · KVOHandler · FSM transitions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123944"/>
            <a:ext cx="4114800" cy="621792"/>
          </a:xfrm>
          <a:prstGeom prst="rect">
            <a:avLst/>
          </a:prstGeom>
          <a:solidFill>
            <a:srgbClr val="0B1622"/>
          </a:solidFill>
          <a:ln w="1270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123944"/>
            <a:ext cx="411480" cy="621792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2611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77240" y="41605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UI Shell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4416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DrugLibrary · DrugEditor → Supabase drug 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234440"/>
            <a:ext cx="4114800" cy="621792"/>
          </a:xfrm>
          <a:prstGeom prst="rect">
            <a:avLst/>
          </a:prstGeom>
          <a:solidFill>
            <a:srgbClr val="0B1622"/>
          </a:solidFill>
          <a:ln w="1270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1234440"/>
            <a:ext cx="411480" cy="621792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13716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257800" y="12710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Logic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15270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LimitValidator · AuditLogger · ReportGenerator (PDF)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1956816"/>
            <a:ext cx="4114800" cy="621792"/>
          </a:xfrm>
          <a:prstGeom prst="rect">
            <a:avLst/>
          </a:prstGeom>
          <a:solidFill>
            <a:srgbClr val="0B1622"/>
          </a:solidFill>
          <a:ln w="12700">
            <a:solidFill>
              <a:srgbClr val="620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1956816"/>
            <a:ext cx="411480" cy="621792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20939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07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257800" y="19933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UI Shell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57800" y="22494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StatusDashboard · UserManagement · LogsViewer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679192"/>
            <a:ext cx="4114800" cy="621792"/>
          </a:xfrm>
          <a:prstGeom prst="rect">
            <a:avLst/>
          </a:prstGeom>
          <a:solidFill>
            <a:srgbClr val="0B1622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0" y="2679192"/>
            <a:ext cx="41148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2816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08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5257800" y="27157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29718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 alarm streaming · RLS policy testing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401568"/>
            <a:ext cx="4114800" cy="621792"/>
          </a:xfrm>
          <a:prstGeom prst="rect">
            <a:avLst/>
          </a:prstGeom>
          <a:solidFill>
            <a:srgbClr val="0B1622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54880" y="3401568"/>
            <a:ext cx="41148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54880" y="35387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09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5257800" y="34381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Export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57800" y="36941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Infusion Summary &amp; Alarm Frequency PDFs from filtered data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4123944"/>
            <a:ext cx="4114800" cy="621792"/>
          </a:xfrm>
          <a:prstGeom prst="rect">
            <a:avLst/>
          </a:prstGeom>
          <a:solidFill>
            <a:srgbClr val="0B1622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54880" y="4123944"/>
            <a:ext cx="41148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54880" y="42611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10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5257800" y="41605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Polish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57800" y="4416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 · Offline Drift sync · WCAG audit · Edge cases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2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Schema — PostgreSQL (Supabase)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1554480" cy="274320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9184" y="12252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1207008"/>
            <a:ext cx="1188720" cy="274320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75104" y="12252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PK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207008"/>
            <a:ext cx="5212080" cy="274320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55264" y="122529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Description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499616"/>
            <a:ext cx="155448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20240" y="1499616"/>
            <a:ext cx="11887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499616"/>
            <a:ext cx="521208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499616"/>
            <a:ext cx="45720" cy="457200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5910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75104" y="1591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(UUID)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73552" y="154533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accounts · soft-delete · national_id, password_hash, role, last_login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993392"/>
            <a:ext cx="1554480" cy="45720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20240" y="1993392"/>
            <a:ext cx="1188720" cy="45720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1993392"/>
            <a:ext cx="5212080" cy="45720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1993392"/>
            <a:ext cx="45720" cy="457200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75104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drug_id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73552" y="20391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library managed by Doctors · concentration, rates, hard/soft limits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487168"/>
            <a:ext cx="155448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20240" y="2487168"/>
            <a:ext cx="11887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2487168"/>
            <a:ext cx="521208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487168"/>
            <a:ext cx="45720" cy="457200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0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infusion_session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75104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73552" y="25328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parameter snapshot per session · status enum · volume accounting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980944"/>
            <a:ext cx="1554480" cy="45720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920240" y="2980944"/>
            <a:ext cx="1188720" cy="45720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0" y="2980944"/>
            <a:ext cx="5212080" cy="45720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2980944"/>
            <a:ext cx="45720" cy="45720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30723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75104" y="3072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alarm_id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73552" y="302666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table of all alarm types with severity classifications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474720"/>
            <a:ext cx="155448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920240" y="3474720"/>
            <a:ext cx="11887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00400" y="3474720"/>
            <a:ext cx="521208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3474720"/>
            <a:ext cx="457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3566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(events)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975104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73552" y="3520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log per session · ack/resolve tracking with user + timestamp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968496"/>
            <a:ext cx="1554480" cy="45720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920240" y="3968496"/>
            <a:ext cx="1188720" cy="45720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200400" y="3968496"/>
            <a:ext cx="5212080" cy="457200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74320" y="3968496"/>
            <a:ext cx="45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5760" y="4059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975104" y="4059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73552" y="40142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append-only · old_value/new_value · PostgreSQL rules block UPDATE &amp; DELETE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162232"/>
          </a:solidFill>
          <a:ln w="1016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11480" y="474573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(RLS) policies enforced on every table — second line of defence independent of Flutter UI RBAC guards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3 · DESIGN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Feature-First Module Organisation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170432"/>
          </a:xfrm>
          <a:prstGeom prst="rect">
            <a:avLst/>
          </a:prstGeom>
          <a:solidFill>
            <a:srgbClr val="0B1622"/>
          </a:solidFill>
          <a:ln w="1270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292608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lib/core/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router/ — GoRouter + RBAC guard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theme/ — Role ThemeData tokens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constants/ — timeouts, thresholds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error/ — sealed AppException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450592"/>
            <a:ext cx="4160520" cy="1170432"/>
          </a:xfrm>
          <a:prstGeom prst="rect">
            <a:avLst/>
          </a:prstGeom>
          <a:solidFill>
            <a:srgbClr val="0B1622"/>
          </a:solidFill>
          <a:ln w="1270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4160520" cy="292608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4871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lib/features/auth/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798064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LoginScreen · AuthRepository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datasource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AppUser model · RoleType enum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712464"/>
            <a:ext cx="4160520" cy="1170432"/>
          </a:xfrm>
          <a:prstGeom prst="rect">
            <a:avLst/>
          </a:prstGeom>
          <a:solidFill>
            <a:srgbClr val="0B1622"/>
          </a:solidFill>
          <a:ln w="12700">
            <a:solidFill>
              <a:srgbClr val="620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712464"/>
            <a:ext cx="4160520" cy="292608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lib/features/doctor/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059936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DrugRepository · ReportRepository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/ Report freezed models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add / edit / delete / generate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DrugLibrary, DrugEditor, Logs, Reports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188720"/>
            <a:ext cx="4160520" cy="1170432"/>
          </a:xfrm>
          <a:prstGeom prst="rect">
            <a:avLst/>
          </a:prstGeom>
          <a:solidFill>
            <a:srgbClr val="0B1622"/>
          </a:solidFill>
          <a:ln w="1270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1188720"/>
            <a:ext cx="4160520" cy="2926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12252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lib/features/nurse/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1536192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InfusionStateMachine (10 states)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BatterySimulator · LimitValidator · KVOHandler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Nurse screens + AlarmPanel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InfusionState / AlarmType enums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450592"/>
            <a:ext cx="4160520" cy="1170432"/>
          </a:xfrm>
          <a:prstGeom prst="rect">
            <a:avLst/>
          </a:prstGeom>
          <a:solidFill>
            <a:srgbClr val="0B1622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450592"/>
            <a:ext cx="416052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24871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lib/features/admin/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798064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UserRepository · SystemHealthRepository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use cases · Admin screens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ManagedUser model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712464"/>
            <a:ext cx="4160520" cy="1170432"/>
          </a:xfrm>
          <a:prstGeom prst="rect">
            <a:avLst/>
          </a:prstGeom>
          <a:solidFill>
            <a:srgbClr val="0B1622"/>
          </a:solidFill>
          <a:ln w="12700">
            <a:solidFill>
              <a:srgbClr val="809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3712464"/>
            <a:ext cx="4160520" cy="292608"/>
          </a:xfrm>
          <a:prstGeom prst="rect">
            <a:avLst/>
          </a:prstGeom>
          <a:solidFill>
            <a:srgbClr val="8090A0"/>
          </a:solidFill>
          <a:ln w="12700">
            <a:solidFill>
              <a:srgbClr val="809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374904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lib/shared/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4059936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RoleBadge · ConfirmationDialog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SessionTimeoutBanner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AccessDeniedScreen · SessionProvider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3 · DESIGN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Engine &amp; Infusion State Machine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463040" cy="502920"/>
          </a:xfrm>
          <a:prstGeom prst="rect">
            <a:avLst/>
          </a:prstGeom>
          <a:solidFill>
            <a:srgbClr val="2D3F50"/>
          </a:solidFill>
          <a:ln w="6350">
            <a:solidFill>
              <a:srgbClr val="F0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IDLE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417320"/>
            <a:ext cx="1463040" cy="502920"/>
          </a:xfrm>
          <a:prstGeom prst="rect">
            <a:avLst/>
          </a:prstGeom>
          <a:solidFill>
            <a:srgbClr val="005EA4"/>
          </a:solidFill>
          <a:ln w="6350">
            <a:solidFill>
              <a:srgbClr val="F0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PROGRAMMING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417320"/>
            <a:ext cx="1463040" cy="502920"/>
          </a:xfrm>
          <a:prstGeom prst="rect">
            <a:avLst/>
          </a:prstGeom>
          <a:solidFill>
            <a:srgbClr val="2E7D32"/>
          </a:solidFill>
          <a:ln w="6350">
            <a:solidFill>
              <a:srgbClr val="F0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RUNNING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49240" y="1417320"/>
            <a:ext cx="1463040" cy="502920"/>
          </a:xfrm>
          <a:prstGeom prst="rect">
            <a:avLst/>
          </a:prstGeom>
          <a:solidFill>
            <a:srgbClr val="F57F17"/>
          </a:solidFill>
          <a:ln w="6350">
            <a:solidFill>
              <a:srgbClr val="F0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4924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PAUSED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49240" y="2606040"/>
            <a:ext cx="1463040" cy="502920"/>
          </a:xfrm>
          <a:prstGeom prst="rect">
            <a:avLst/>
          </a:prstGeom>
          <a:solidFill>
            <a:srgbClr val="C62828"/>
          </a:solidFill>
          <a:ln w="6350">
            <a:solidFill>
              <a:srgbClr val="F0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4924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ALARM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2606040"/>
            <a:ext cx="1463040" cy="502920"/>
          </a:xfrm>
          <a:prstGeom prst="rect">
            <a:avLst/>
          </a:prstGeom>
          <a:solidFill>
            <a:srgbClr val="00685D"/>
          </a:solidFill>
          <a:ln w="6350">
            <a:solidFill>
              <a:srgbClr val="F0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KVO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2606040"/>
            <a:ext cx="1463040" cy="502920"/>
          </a:xfrm>
          <a:prstGeom prst="rect">
            <a:avLst/>
          </a:prstGeom>
          <a:solidFill>
            <a:srgbClr val="1B5E20"/>
          </a:solidFill>
          <a:ln w="6350">
            <a:solidFill>
              <a:srgbClr val="F0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2880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2606040"/>
            <a:ext cx="1463040" cy="502920"/>
          </a:xfrm>
          <a:prstGeom prst="rect">
            <a:avLst/>
          </a:prstGeom>
          <a:solidFill>
            <a:srgbClr val="8B0000"/>
          </a:solidFill>
          <a:ln w="6350">
            <a:solidFill>
              <a:srgbClr val="F0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8660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EMRG STOP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86600" y="1417320"/>
            <a:ext cx="1463040" cy="502920"/>
          </a:xfrm>
          <a:prstGeom prst="rect">
            <a:avLst/>
          </a:prstGeom>
          <a:solidFill>
            <a:srgbClr val="F57F17"/>
          </a:solidFill>
          <a:ln w="6350">
            <a:solidFill>
              <a:srgbClr val="F0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8660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BATT 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83080" y="1664208"/>
            <a:ext cx="45720" cy="9144"/>
          </a:xfrm>
          <a:prstGeom prst="line">
            <a:avLst/>
          </a:prstGeom>
          <a:noFill/>
          <a:ln w="15240">
            <a:solidFill>
              <a:srgbClr val="809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91840" y="1664208"/>
            <a:ext cx="274320" cy="9144"/>
          </a:xfrm>
          <a:prstGeom prst="line">
            <a:avLst/>
          </a:prstGeom>
          <a:noFill/>
          <a:ln w="15240">
            <a:solidFill>
              <a:srgbClr val="809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74920" y="1664208"/>
            <a:ext cx="274320" cy="9144"/>
          </a:xfrm>
          <a:prstGeom prst="line">
            <a:avLst/>
          </a:prstGeom>
          <a:noFill/>
          <a:ln w="15240">
            <a:solidFill>
              <a:srgbClr val="809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49240" y="1920240"/>
            <a:ext cx="9144" cy="685800"/>
          </a:xfrm>
          <a:prstGeom prst="line">
            <a:avLst/>
          </a:prstGeom>
          <a:noFill/>
          <a:ln w="15240">
            <a:solidFill>
              <a:srgbClr val="809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566160" y="2606040"/>
            <a:ext cx="9144" cy="685800"/>
          </a:xfrm>
          <a:prstGeom prst="line">
            <a:avLst/>
          </a:prstGeom>
          <a:noFill/>
          <a:ln w="15240">
            <a:solidFill>
              <a:srgbClr val="809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28800" y="2606040"/>
            <a:ext cx="9144" cy="685800"/>
          </a:xfrm>
          <a:prstGeom prst="line">
            <a:avLst/>
          </a:prstGeom>
          <a:noFill/>
          <a:ln w="15240">
            <a:solidFill>
              <a:srgbClr val="809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12280" y="1920240"/>
            <a:ext cx="274320" cy="9144"/>
          </a:xfrm>
          <a:prstGeom prst="line">
            <a:avLst/>
          </a:prstGeom>
          <a:noFill/>
          <a:ln w="15240">
            <a:solidFill>
              <a:srgbClr val="809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12280" y="1664208"/>
            <a:ext cx="274320" cy="9144"/>
          </a:xfrm>
          <a:prstGeom prst="line">
            <a:avLst/>
          </a:prstGeom>
          <a:noFill/>
          <a:ln w="15240">
            <a:solidFill>
              <a:srgbClr val="809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3474720"/>
            <a:ext cx="2743200" cy="1508760"/>
          </a:xfrm>
          <a:prstGeom prst="rect">
            <a:avLst/>
          </a:prstGeom>
          <a:solidFill>
            <a:srgbClr val="0B1622"/>
          </a:solidFill>
          <a:ln w="1270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547872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13232" y="3547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InfusionStateMachine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84048" y="3877056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10-state FSM: idle → programming → running → paused → alarm → kvo → complete → emergencyStop → batteryLow → criticalBattery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rate/3600 mL/s per tick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sync throttled: every 60 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218688" y="3474720"/>
            <a:ext cx="2743200" cy="1508760"/>
          </a:xfrm>
          <a:prstGeom prst="rect">
            <a:avLst/>
          </a:prstGeom>
          <a:solidFill>
            <a:srgbClr val="0B1622"/>
          </a:solidFill>
          <a:ln w="1270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3547872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3657600" y="3547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BatterySimulator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3328416" y="3877056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drain loop: −0.1%/s during Running/KVO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@20% → low-battery alarm (non-blocking)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@5% → calls emergencyStop() + critical alarm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163056" y="3474720"/>
            <a:ext cx="2743200" cy="1508760"/>
          </a:xfrm>
          <a:prstGeom prst="rect">
            <a:avLst/>
          </a:prstGeom>
          <a:solidFill>
            <a:srgbClr val="0B1622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3547872"/>
            <a:ext cx="274320" cy="27432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601968" y="3547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LimitValidator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6272784" y="3877056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 breach → input rejected, Start disabled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limit breach → yellow warning, acknowledgement required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from both UI layer and use-case layer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3 · DESIGN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Architecture &amp; Audit Logging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4160520" cy="704088"/>
          </a:xfrm>
          <a:prstGeom prst="rect">
            <a:avLst/>
          </a:prstGeom>
          <a:solidFill>
            <a:srgbClr val="0B1622"/>
          </a:solidFill>
          <a:ln w="1016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64008" cy="704088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261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517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· National ID + password · Biometric (local_auth) optional 2FA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160520" cy="704088"/>
          </a:xfrm>
          <a:prstGeom prst="rect">
            <a:avLst/>
          </a:prstGeom>
          <a:solidFill>
            <a:srgbClr val="0B1622"/>
          </a:solidFill>
          <a:ln w="1016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64008" cy="704088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2066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8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Storage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322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flutter_secure_storage — OS Keychain (iOS) / Keystore (Android) — no plaintext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16352"/>
            <a:ext cx="4160520" cy="704088"/>
          </a:xfrm>
          <a:prstGeom prst="rect">
            <a:avLst/>
          </a:prstGeom>
          <a:solidFill>
            <a:srgbClr val="0B1622"/>
          </a:solidFill>
          <a:ln w="1016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816352"/>
            <a:ext cx="64008" cy="7040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28712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127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(HTTPS) enforced — no plaintext connections to Supabase permitted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207008"/>
            <a:ext cx="4160520" cy="704088"/>
          </a:xfrm>
          <a:prstGeom prst="rect">
            <a:avLst/>
          </a:prstGeom>
          <a:solidFill>
            <a:srgbClr val="0B1622"/>
          </a:solidFill>
          <a:ln w="1016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1207008"/>
            <a:ext cx="64008" cy="704088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73752" y="1261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00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at Rest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1517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on all stored logs and sensitive data via Supabase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011680"/>
            <a:ext cx="4160520" cy="704088"/>
          </a:xfrm>
          <a:prstGeom prst="rect">
            <a:avLst/>
          </a:prstGeom>
          <a:solidFill>
            <a:srgbClr val="0B1622"/>
          </a:solidFill>
          <a:ln w="1016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011680"/>
            <a:ext cx="64008" cy="70408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73752" y="2066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Row-Level Security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2322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policies — authoritative DB-layer access control, independent of UI RBAC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816352"/>
            <a:ext cx="4160520" cy="704088"/>
          </a:xfrm>
          <a:prstGeom prst="rect">
            <a:avLst/>
          </a:prstGeom>
          <a:solidFill>
            <a:srgbClr val="0B1622"/>
          </a:solidFill>
          <a:ln w="1016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2816352"/>
            <a:ext cx="64008" cy="7040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3752" y="28712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Timeout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3127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10 min · Doctor / Nurse: 15 min · 60 s countdown warning banner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694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Audit Event Types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005072"/>
            <a:ext cx="6858000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132320" y="4005072"/>
            <a:ext cx="1737360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0325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DRUG_ADDED / DRUG_EDITED / DRUG_ARCHIVED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05472" y="40325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261104"/>
            <a:ext cx="6858000" cy="23774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32320" y="4261104"/>
            <a:ext cx="1737360" cy="23774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4288536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INFUSION_STARTED / PAUSED / STOPPED / EMERGENCY_STOP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05472" y="42885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517136"/>
            <a:ext cx="6858000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132320" y="4517136"/>
            <a:ext cx="1737360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54456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ALARM_ACKNOWLEDGED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05472" y="4544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773168"/>
            <a:ext cx="6858000" cy="23774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132320" y="4773168"/>
            <a:ext cx="1737360" cy="23774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480060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USER_CREATED / USER_DEACTIVATED / CONFIG_CHANGED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05472" y="48006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0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4 · UI/UX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System &amp; Token Specification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25880" cy="502920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68249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#00685D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09928" y="1188720"/>
            <a:ext cx="1325880" cy="502920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09928" y="11887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Nurse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9928" y="168249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#005EA4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45536" y="1188720"/>
            <a:ext cx="1325880" cy="502920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45536" y="11887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45536" y="168249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#6200EA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81144" y="1188720"/>
            <a:ext cx="132588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81144" y="11887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Emrg.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81144" y="168249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#E53935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16752" y="1188720"/>
            <a:ext cx="13258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16752" y="11887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16752" y="168249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#2E7D32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452360" y="1188720"/>
            <a:ext cx="1325880" cy="5029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52360" y="11887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Warn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2360" y="168249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#F57F17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Typography Tokens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340864"/>
            <a:ext cx="137160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645920" y="2340864"/>
            <a:ext cx="64008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0" y="2340864"/>
            <a:ext cx="109728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83280" y="2340864"/>
            <a:ext cx="544068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238658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dataDisplay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19072" y="2386584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32pt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59152" y="23865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Bold 700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56432" y="238658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numeric values (rate, volume, uptime %)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660904"/>
            <a:ext cx="137160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645920" y="2660904"/>
            <a:ext cx="64008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286000" y="2660904"/>
            <a:ext cx="109728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383280" y="2660904"/>
            <a:ext cx="544068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7472" y="270662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titleStyle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19072" y="2706624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20pt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59152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SemiBold 600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56432" y="2706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titles, card headings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2980944"/>
            <a:ext cx="137160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645920" y="2980944"/>
            <a:ext cx="64008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286000" y="2980944"/>
            <a:ext cx="109728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383280" y="2980944"/>
            <a:ext cx="544068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7472" y="302666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bodyStyle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719072" y="3026664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16pt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59152" y="302666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Regular 400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56432" y="302666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text, descriptions, helper text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300984"/>
            <a:ext cx="137160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645920" y="3300984"/>
            <a:ext cx="64008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286000" y="3300984"/>
            <a:ext cx="109728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383280" y="3300984"/>
            <a:ext cx="544068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47472" y="334670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captionStyle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719072" y="3346704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13pt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359152" y="334670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Medium 500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56432" y="334670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labels, secondary metadata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3621024"/>
            <a:ext cx="137160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645920" y="3621024"/>
            <a:ext cx="64008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286000" y="3621024"/>
            <a:ext cx="109728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383280" y="3621024"/>
            <a:ext cx="544068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47472" y="366674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labelCaps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719072" y="3666744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11pt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359152" y="366674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Bold 700 +tracked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56432" y="366674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ALL-CAPS nav/button labels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84632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Spacing &amp; Radius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846320" y="2340864"/>
            <a:ext cx="128016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126480" y="2340864"/>
            <a:ext cx="54864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675120" y="2340864"/>
            <a:ext cx="128016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955280" y="2340864"/>
            <a:ext cx="86868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901184" y="238658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5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spaceXs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181344" y="23865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4 dp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729984" y="238658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5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spaceSm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010144" y="238658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8 dp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846320" y="2660904"/>
            <a:ext cx="128016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126480" y="2660904"/>
            <a:ext cx="54864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675120" y="2660904"/>
            <a:ext cx="128016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7955280" y="2660904"/>
            <a:ext cx="86868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901184" y="270662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5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spaceMd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181344" y="270662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16 dp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729984" y="270662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5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spaceLg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010144" y="270662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24 dp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846320" y="2980944"/>
            <a:ext cx="128016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126480" y="2980944"/>
            <a:ext cx="54864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675120" y="2980944"/>
            <a:ext cx="128016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955280" y="2980944"/>
            <a:ext cx="86868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901184" y="302666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5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radiusDefault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181344" y="302666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2 dp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729984" y="302666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5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radiusLg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8010144" y="302666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4 dp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846320" y="3300984"/>
            <a:ext cx="128016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6126480" y="3300984"/>
            <a:ext cx="54864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6675120" y="3300984"/>
            <a:ext cx="1280160" cy="301752"/>
          </a:xfrm>
          <a:prstGeom prst="rect">
            <a:avLst/>
          </a:prstGeom>
          <a:solidFill>
            <a:srgbClr val="0B1622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7955280" y="3300984"/>
            <a:ext cx="868680" cy="301752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901184" y="334670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5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nurseRadiusXl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181344" y="33467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12 dp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6729984" y="334670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5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nurseRadiusFull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8010144" y="334670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9999 dp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4 · UI/UX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 Inventory by Role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743200" cy="3822192"/>
          </a:xfrm>
          <a:prstGeom prst="rect">
            <a:avLst/>
          </a:prstGeom>
          <a:solidFill>
            <a:srgbClr val="0B1622"/>
          </a:solidFill>
          <a:ln w="1651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743200" cy="566928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344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1234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1828800"/>
            <a:ext cx="254203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Library — searchable list, Add FAB, swipe edit/delete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Editor — sectioned form (IDENTIFICATION, POTENCY, FLOW CONTROL), inline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Viewer — filterable, read-only, tap for detail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type selector, date filter, preview pane, Export PDF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170432"/>
            <a:ext cx="2743200" cy="3822192"/>
          </a:xfrm>
          <a:prstGeom prst="rect">
            <a:avLst/>
          </a:prstGeom>
          <a:solidFill>
            <a:srgbClr val="0B1622"/>
          </a:solidFill>
          <a:ln w="1651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1170432"/>
            <a:ext cx="2743200" cy="566928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3444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12464" y="1234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310128" y="1828800"/>
            <a:ext cx="254203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Selection — active drugs only, tap to proceed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Entry — Conc., Rate, VTBI, dosing calc panel, Emergency Stop always visible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Dashboard — 2×2 data cards at 32pt bold, VTBI progress bar, 1 Hz refresh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Controls — Start/Pause/Resume grid + Emergency Stop (2-sec hold + haptic)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Alarms — severity indicators, critical locks until resolved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 Preview — read-only chronological events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44768" y="1170432"/>
            <a:ext cx="2743200" cy="3822192"/>
          </a:xfrm>
          <a:prstGeom prst="rect">
            <a:avLst/>
          </a:prstGeom>
          <a:solidFill>
            <a:srgbClr val="0B1622"/>
          </a:solidFill>
          <a:ln w="16510">
            <a:solidFill>
              <a:srgbClr val="620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44768" y="1170432"/>
            <a:ext cx="2743200" cy="566928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23444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56832" y="1234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254496" y="1828800"/>
            <a:ext cx="254203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2×2 stat cards, Active Alerts with coloured borders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— role-coloured avatars, role pills, Add FAB, deactivate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Viewer — date/drug/user filters, paginated table with event-type chips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4 · UI/UX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Case &amp; Error State Coverage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4160520" cy="1755648"/>
          </a:xfrm>
          <a:prstGeom prst="rect">
            <a:avLst/>
          </a:prstGeom>
          <a:solidFill>
            <a:srgbClr val="0B1622"/>
          </a:solidFill>
          <a:ln w="1270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160520" cy="320040"/>
          </a:xfrm>
          <a:prstGeom prst="rect">
            <a:avLst/>
          </a:prstGeom>
          <a:solidFill>
            <a:srgbClr val="005EA4"/>
          </a:solidFill>
          <a:ln w="12700">
            <a:solidFill>
              <a:srgbClr val="005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24358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Role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591056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credentials → red banner #FFEBEE above inputs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Deactivated account → 'Account has been deactivated'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→ 'No connection — cannot authenticate'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failed → fallback to password, no crash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3090672"/>
            <a:ext cx="4160520" cy="1755648"/>
          </a:xfrm>
          <a:prstGeom prst="rect">
            <a:avLst/>
          </a:prstGeom>
          <a:solidFill>
            <a:srgbClr val="0B1622"/>
          </a:solidFill>
          <a:ln w="1270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3090672"/>
            <a:ext cx="4160520" cy="320040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312724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Role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347472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drug library → empty state: icon + Add button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drug in active session → blocking error modal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 &lt; Soft Limit → inline validation error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failed → snackbar with retry option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207008"/>
            <a:ext cx="4160520" cy="1755648"/>
          </a:xfrm>
          <a:prstGeom prst="rect">
            <a:avLst/>
          </a:prstGeom>
          <a:solidFill>
            <a:srgbClr val="0B1622"/>
          </a:solidFill>
          <a:ln w="1270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1207008"/>
            <a:ext cx="4160520" cy="32004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18888" y="124358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 Role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8888" y="1591056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 exceeded → Start disabled + blocking modal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limit exceeded → yellow banner, 'I understand — proceed'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alarm mid-infusion → pump auto-pauses, alarm panel overlays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@20% → non-blocking banner; @5% → auto-stop + critical alarm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 accidental press → 2-sec hold + haptic progress fill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090672"/>
            <a:ext cx="4160520" cy="1755648"/>
          </a:xfrm>
          <a:prstGeom prst="rect">
            <a:avLst/>
          </a:prstGeom>
          <a:solidFill>
            <a:srgbClr val="0B1622"/>
          </a:solidFill>
          <a:ln w="12700">
            <a:solidFill>
              <a:srgbClr val="620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3090672"/>
            <a:ext cx="4160520" cy="320040"/>
          </a:xfrm>
          <a:prstGeom prst="rect">
            <a:avLst/>
          </a:prstGeom>
          <a:solidFill>
            <a:srgbClr val="6200EA"/>
          </a:solidFill>
          <a:ln w="12700">
            <a:solidFill>
              <a:srgbClr val="620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18888" y="312724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Role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18888" y="347472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last Admin → 'Create backup account first' error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own account → warning dialog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&gt;80% → progress bar turns amber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&gt;90% → red left-border alert row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5 · VALIDATION &amp; TESTING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Multi-Layer Testing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4160520" cy="1152144"/>
          </a:xfrm>
          <a:prstGeom prst="rect">
            <a:avLst/>
          </a:prstGeom>
          <a:solidFill>
            <a:srgbClr val="0B1622"/>
          </a:solidFill>
          <a:ln w="1270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984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1645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LimitValidator · BatterySimulator · InfusionStateMachine · AuditLogger · PDF generator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test + Mockito for Supabase mocks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 target for safety-critical validators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2468880"/>
            <a:ext cx="4160520" cy="1152144"/>
          </a:xfrm>
          <a:prstGeom prst="rect">
            <a:avLst/>
          </a:prstGeom>
          <a:solidFill>
            <a:srgbClr val="0B1622"/>
          </a:solidFill>
          <a:ln w="12700">
            <a:solidFill>
              <a:srgbClr val="005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56032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Widget Tests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84048" y="290779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DrugEditor validation feedback, ParameterEntry limit warnings, AlarmPanel acknowledgement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flutter_test · pump.pumpAndSettle()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tests for visual regression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3730752"/>
            <a:ext cx="4160520" cy="1152144"/>
          </a:xfrm>
          <a:prstGeom prst="rect">
            <a:avLst/>
          </a:prstGeom>
          <a:solidFill>
            <a:srgbClr val="0B1622"/>
          </a:solidFill>
          <a:ln w="12700">
            <a:solidFill>
              <a:srgbClr val="6200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82219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200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84048" y="416966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role flows vs. Supabase test project with seeded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flutter_driver / integration_test package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on GitHub Actions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09160" y="1207008"/>
            <a:ext cx="4160520" cy="1152144"/>
          </a:xfrm>
          <a:prstGeom prst="rect">
            <a:avLst/>
          </a:prstGeom>
          <a:solidFill>
            <a:srgbClr val="0B1622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29844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6636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RBAC / Security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18888" y="1645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 cross-role navigation · RLS policy enforcement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 · last-Admin deletion block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integration tests + manual RLS inspection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709160" y="2468880"/>
            <a:ext cx="4160520" cy="1152144"/>
          </a:xfrm>
          <a:prstGeom prst="rect">
            <a:avLst/>
          </a:prstGeom>
          <a:solidFill>
            <a:srgbClr val="0B1622"/>
          </a:solidFill>
          <a:ln w="1270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56032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6636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818888" y="290779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Hz refresh latency · FSM response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speed · log export throughput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DevTools timeline · manual stopwatch on target hardware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709160" y="3730752"/>
            <a:ext cx="4160520" cy="1152144"/>
          </a:xfrm>
          <a:prstGeom prst="rect">
            <a:avLst/>
          </a:prstGeom>
          <a:solidFill>
            <a:srgbClr val="0B1622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822192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6636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818888" y="416966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ratios ≥ 4.5:1 · touch targets ≥ 44×44 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TalkBack screen reader compatibility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Accessibility Analyser + physical device testing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5 · VALIDATION &amp; TESTING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Test Cases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68580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" y="1197864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1188720"/>
            <a:ext cx="68580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2416" y="1197864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1188720"/>
            <a:ext cx="91440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73936" y="119786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Type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260604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42616" y="1197864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Description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57800" y="1188720"/>
            <a:ext cx="356616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94376" y="119786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 Result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463040"/>
            <a:ext cx="6858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1463040"/>
            <a:ext cx="6858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37360" y="1463040"/>
            <a:ext cx="9144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06040" y="1463040"/>
            <a:ext cx="260604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57800" y="1463040"/>
            <a:ext cx="356616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0896" y="1508760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V-D-01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2416" y="1508760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5D"/>
                </a:solidFill>
              </a:rPr>
              <a:t>Doctor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73936" y="150876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42616" y="150876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drug with valid limits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94376" y="150876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appears in library; selectable by Nurse role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1746504"/>
            <a:ext cx="6858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5840" y="1746504"/>
            <a:ext cx="6858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737360" y="1746504"/>
            <a:ext cx="9144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606040" y="1746504"/>
            <a:ext cx="260604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57800" y="1746504"/>
            <a:ext cx="356616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0896" y="1792224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V-D-02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2416" y="1792224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5D"/>
                </a:solidFill>
              </a:rPr>
              <a:t>Doctor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73936" y="179222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42616" y="1792224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hard limit = −5 mg/mL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94376" y="1792224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validation error; data not saved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029968"/>
            <a:ext cx="6858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05840" y="2029968"/>
            <a:ext cx="6858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737360" y="2029968"/>
            <a:ext cx="9144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606040" y="2029968"/>
            <a:ext cx="260604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257800" y="2029968"/>
            <a:ext cx="356616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10896" y="2075688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V-D-03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42416" y="2075688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5D"/>
                </a:solidFill>
              </a:rPr>
              <a:t>Doctor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73936" y="207568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642616" y="207568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drug; open audit trail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94376" y="2075688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user ID, timestamp, field, old val, new val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2313432"/>
            <a:ext cx="6858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05840" y="2313432"/>
            <a:ext cx="6858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737360" y="2313432"/>
            <a:ext cx="9144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606040" y="2313432"/>
            <a:ext cx="260604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257800" y="2313432"/>
            <a:ext cx="356616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10896" y="2359152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V-D-04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42416" y="2359152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5D"/>
                </a:solidFill>
              </a:rPr>
              <a:t>Doctor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773936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642616" y="2359152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drug in active simulation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94376" y="235915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with explanatory error message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2596896"/>
            <a:ext cx="6858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05840" y="2596896"/>
            <a:ext cx="6858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737360" y="2596896"/>
            <a:ext cx="9144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606040" y="2596896"/>
            <a:ext cx="260604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257800" y="2596896"/>
            <a:ext cx="356616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10896" y="264261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V-N-01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42416" y="264261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EA4"/>
                </a:solidFill>
              </a:rPr>
              <a:t>Nurse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773936" y="2642616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642616" y="264261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valid infusion; start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294376" y="2642616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counter ↑; time remaining ↓ at 1 Hz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4320" y="2880360"/>
            <a:ext cx="6858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005840" y="2880360"/>
            <a:ext cx="6858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737360" y="2880360"/>
            <a:ext cx="9144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606040" y="2880360"/>
            <a:ext cx="260604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257800" y="2880360"/>
            <a:ext cx="356616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10896" y="2926080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V-N-02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42416" y="2926080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EA4"/>
                </a:solidFill>
              </a:rPr>
              <a:t>Nurse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773936" y="292608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642616" y="292608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above hard limit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294376" y="292608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disabled; blocking error shown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3163824"/>
            <a:ext cx="6858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05840" y="3163824"/>
            <a:ext cx="6858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737360" y="3163824"/>
            <a:ext cx="9144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606040" y="3163824"/>
            <a:ext cx="260604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257800" y="3163824"/>
            <a:ext cx="356616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10896" y="3209544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V-N-03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42416" y="3209544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EA4"/>
                </a:solidFill>
              </a:rPr>
              <a:t>Nurse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773936" y="320954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2642616" y="3209544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above soft limit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294376" y="3209544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warning banner; acknowledgement required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74320" y="3447288"/>
            <a:ext cx="6858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005840" y="3447288"/>
            <a:ext cx="6858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737360" y="3447288"/>
            <a:ext cx="9144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606040" y="3447288"/>
            <a:ext cx="260604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5257800" y="3447288"/>
            <a:ext cx="356616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310896" y="3493008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V-N-04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042416" y="3493008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EA4"/>
                </a:solidFill>
              </a:rPr>
              <a:t>Nurse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773936" y="349300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2642616" y="349300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occlusion alarm mid-infusion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294376" y="3493008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Auto-pause; critical alarm locked until resolved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74320" y="3730752"/>
            <a:ext cx="6858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005840" y="3730752"/>
            <a:ext cx="6858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737360" y="3730752"/>
            <a:ext cx="9144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606040" y="3730752"/>
            <a:ext cx="260604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5257800" y="3730752"/>
            <a:ext cx="356616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310896" y="3776472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V-N-05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1042416" y="3776472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EA4"/>
                </a:solidFill>
              </a:rPr>
              <a:t>Nurse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1773936" y="377647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2642616" y="3776472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Emergency Stop (2-sec hold)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5294376" y="377647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shuts down ≤ 500 ms; logged in audit trail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274320" y="4014216"/>
            <a:ext cx="6858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005840" y="4014216"/>
            <a:ext cx="6858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737360" y="4014216"/>
            <a:ext cx="9144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606040" y="4014216"/>
            <a:ext cx="260604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5257800" y="4014216"/>
            <a:ext cx="356616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310896" y="405993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V-A-01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1042416" y="405993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00EA"/>
                </a:solidFill>
              </a:rPr>
              <a:t>Admin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1773936" y="4059936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2642616" y="405993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Nurse account; log in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294376" y="4059936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Nurse-only screens accessible; Admin returns 403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274320" y="4297680"/>
            <a:ext cx="6858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1005840" y="4297680"/>
            <a:ext cx="6858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1737360" y="4297680"/>
            <a:ext cx="91440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2606040" y="4297680"/>
            <a:ext cx="260604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5257800" y="4297680"/>
            <a:ext cx="3566160" cy="265176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310896" y="4343400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V-A-02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1042416" y="4343400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00EA"/>
                </a:solidFill>
              </a:rPr>
              <a:t>Admin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1773936" y="434340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2642616" y="434340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last Admin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5294376" y="434340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'Only one Admin remaining. Create backup.'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274320" y="4581144"/>
            <a:ext cx="6858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005840" y="4581144"/>
            <a:ext cx="6858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737360" y="4581144"/>
            <a:ext cx="91440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2606040" y="4581144"/>
            <a:ext cx="260604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5257800" y="4581144"/>
            <a:ext cx="3566160" cy="265176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310896" y="4626864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V-A-03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1042416" y="4626864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00EA"/>
                </a:solidFill>
              </a:rPr>
              <a:t>Admin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1773936" y="462686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2642616" y="4626864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Admin config changes; review log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5294376" y="4626864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entries with user ID, timestamp, changed vals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SECTION 5 · VALIDATION &amp; TESTING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 Traceability Matrix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64008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" y="119786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Req 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60120" y="1188720"/>
            <a:ext cx="91440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6696" y="119786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Category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1188720"/>
            <a:ext cx="283464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56816" y="1197864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Requirement Summary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246888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37176" y="119786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Verification Test(s)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0" y="1188720"/>
            <a:ext cx="150876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51776" y="1197864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444752"/>
            <a:ext cx="6400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0120" y="1444752"/>
            <a:ext cx="91440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20240" y="1444752"/>
            <a:ext cx="283464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1444752"/>
            <a:ext cx="24688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0" y="1444752"/>
            <a:ext cx="150876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0896" y="147218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F-D-01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96696" y="1472184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Functional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56816" y="147218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view/add/edit/delete drugs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37176" y="1472184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V-D-01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24928" y="1481328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24928" y="148132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1645920"/>
            <a:ext cx="6400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60120" y="1645920"/>
            <a:ext cx="91440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920240" y="1645920"/>
            <a:ext cx="283464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1645920"/>
            <a:ext cx="24688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15200" y="1645920"/>
            <a:ext cx="150876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0896" y="1673352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F-D-02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96696" y="1673352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Functional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56816" y="1673352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define 4 mandatory drug params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37176" y="1673352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V-D-01, V-D-02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24928" y="1682496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24928" y="168249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1847088"/>
            <a:ext cx="6400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60120" y="1847088"/>
            <a:ext cx="91440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920240" y="1847088"/>
            <a:ext cx="283464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0600" y="1847088"/>
            <a:ext cx="24688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315200" y="1847088"/>
            <a:ext cx="150876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10896" y="1874520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F-N-04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96696" y="1874520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Functional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956816" y="1874520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Nurse: hard/soft limit validation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37176" y="1874520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V-N-02, V-N-03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424928" y="1883664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424928" y="188366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2048256"/>
            <a:ext cx="6400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60120" y="2048256"/>
            <a:ext cx="91440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920240" y="2048256"/>
            <a:ext cx="283464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800600" y="2048256"/>
            <a:ext cx="24688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315200" y="2048256"/>
            <a:ext cx="150876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10896" y="207568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F-N-05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96696" y="2075688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Functional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956816" y="2075688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Nurse: Start/Pause/Resume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37176" y="2075688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V-N-01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424928" y="2084832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424928" y="208483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2249424"/>
            <a:ext cx="6400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60120" y="2249424"/>
            <a:ext cx="91440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920240" y="2249424"/>
            <a:ext cx="283464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800600" y="2249424"/>
            <a:ext cx="24688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315200" y="2249424"/>
            <a:ext cx="150876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10896" y="2276856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F-N-06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96696" y="2276856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Functional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956816" y="2276856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Nurse: Emergency Stop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837176" y="2276856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V-N-05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424928" y="2286000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424928" y="228600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74320" y="2450592"/>
            <a:ext cx="6400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60120" y="2450592"/>
            <a:ext cx="91440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20240" y="2450592"/>
            <a:ext cx="283464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4800600" y="2450592"/>
            <a:ext cx="24688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315200" y="2450592"/>
            <a:ext cx="150876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10896" y="247802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F-N-07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96696" y="2478024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Functional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956816" y="247802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Nurse: 1 Hz real-time dashboard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837176" y="2478024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V-N-01, Perf Test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424928" y="2487168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424928" y="248716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74320" y="2651760"/>
            <a:ext cx="6400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960120" y="2651760"/>
            <a:ext cx="91440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920240" y="2651760"/>
            <a:ext cx="283464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800600" y="2651760"/>
            <a:ext cx="24688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315200" y="2651760"/>
            <a:ext cx="150876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10896" y="2679192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F-N-08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996696" y="2679192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Functional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1956816" y="2679192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Nurse: alarm acknowledge/resolve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837176" y="2679192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V-N-04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424928" y="2688336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7424928" y="268833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74320" y="2852928"/>
            <a:ext cx="6400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960120" y="2852928"/>
            <a:ext cx="91440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920240" y="2852928"/>
            <a:ext cx="283464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800600" y="2852928"/>
            <a:ext cx="24688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315200" y="2852928"/>
            <a:ext cx="150876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10896" y="2880360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F-A-01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996696" y="2880360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Functional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956816" y="2880360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user account CRUD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837176" y="2880360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V-A-01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424928" y="2889504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424928" y="288950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3054096"/>
            <a:ext cx="6400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60120" y="3054096"/>
            <a:ext cx="91440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920240" y="3054096"/>
            <a:ext cx="283464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4800600" y="3054096"/>
            <a:ext cx="24688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7315200" y="3054096"/>
            <a:ext cx="150876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10896" y="308152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N-N-01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996696" y="3081528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7F17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956816" y="3081528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≥ 1 Hz, latency ≤ 100 ms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4837176" y="3081528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7424928" y="3090672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424928" y="309067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274320" y="3255264"/>
            <a:ext cx="6400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960120" y="3255264"/>
            <a:ext cx="91440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1920240" y="3255264"/>
            <a:ext cx="283464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4800600" y="3255264"/>
            <a:ext cx="24688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7315200" y="3255264"/>
            <a:ext cx="150876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310896" y="3282696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N-N-02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996696" y="3282696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7F17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1956816" y="3282696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response ≤ 500 ms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4837176" y="3282696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V-N-05, Perf Test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7424928" y="3291840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7424928" y="32918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274320" y="3456432"/>
            <a:ext cx="6400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960120" y="3456432"/>
            <a:ext cx="91440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920240" y="3456432"/>
            <a:ext cx="283464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4800600" y="3456432"/>
            <a:ext cx="24688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7315200" y="3456432"/>
            <a:ext cx="150876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310896" y="348386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S-ALL-01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996696" y="3483864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5EA4"/>
                </a:solidFill>
              </a:rPr>
              <a:t>Security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1956816" y="348386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required for all role screens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4837176" y="3483864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V-D-05, V-N-06, V-A-04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7424928" y="3493008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7424928" y="34930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274320" y="3657600"/>
            <a:ext cx="6400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960120" y="3657600"/>
            <a:ext cx="91440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1920240" y="3657600"/>
            <a:ext cx="283464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4800600" y="3657600"/>
            <a:ext cx="24688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7315200" y="3657600"/>
            <a:ext cx="150876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310896" y="3685032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S-D-01</a:t>
            </a:r>
            <a:endParaRPr lang="en-US" sz="850" dirty="0"/>
          </a:p>
        </p:txBody>
      </p:sp>
      <p:sp>
        <p:nvSpPr>
          <p:cNvPr id="142" name="Text 140"/>
          <p:cNvSpPr/>
          <p:nvPr/>
        </p:nvSpPr>
        <p:spPr>
          <a:xfrm>
            <a:off x="996696" y="3685032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5EA4"/>
                </a:solidFill>
              </a:rPr>
              <a:t>Security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1956816" y="3685032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only Doctor accesses drug lib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4837176" y="3685032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V-D-05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7424928" y="3694176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7424928" y="369417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274320" y="3858768"/>
            <a:ext cx="6400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960120" y="3858768"/>
            <a:ext cx="91440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1920240" y="3858768"/>
            <a:ext cx="283464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4800600" y="3858768"/>
            <a:ext cx="24688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7315200" y="3858768"/>
            <a:ext cx="150876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310896" y="3886200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S-A-02</a:t>
            </a:r>
            <a:endParaRPr lang="en-US" sz="850" dirty="0"/>
          </a:p>
        </p:txBody>
      </p:sp>
      <p:sp>
        <p:nvSpPr>
          <p:cNvPr id="153" name="Text 151"/>
          <p:cNvSpPr/>
          <p:nvPr/>
        </p:nvSpPr>
        <p:spPr>
          <a:xfrm>
            <a:off x="996696" y="3886200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5EA4"/>
                </a:solidFill>
              </a:rPr>
              <a:t>Security</a:t>
            </a:r>
            <a:endParaRPr lang="en-US" sz="800" dirty="0"/>
          </a:p>
        </p:txBody>
      </p:sp>
      <p:sp>
        <p:nvSpPr>
          <p:cNvPr id="154" name="Text 152"/>
          <p:cNvSpPr/>
          <p:nvPr/>
        </p:nvSpPr>
        <p:spPr>
          <a:xfrm>
            <a:off x="1956816" y="3886200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passwords: bcrypt/Argon2 cost 12</a:t>
            </a:r>
            <a:endParaRPr lang="en-US" sz="800" dirty="0"/>
          </a:p>
        </p:txBody>
      </p:sp>
      <p:sp>
        <p:nvSpPr>
          <p:cNvPr id="155" name="Text 153"/>
          <p:cNvSpPr/>
          <p:nvPr/>
        </p:nvSpPr>
        <p:spPr>
          <a:xfrm>
            <a:off x="4837176" y="3886200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+ Sec Audit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7424928" y="3895344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7424928" y="389534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274320" y="4059936"/>
            <a:ext cx="6400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960120" y="4059936"/>
            <a:ext cx="91440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1920240" y="4059936"/>
            <a:ext cx="283464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800600" y="4059936"/>
            <a:ext cx="24688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7315200" y="4059936"/>
            <a:ext cx="150876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310896" y="40873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SF-D-01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996696" y="4087368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</a:rPr>
              <a:t>Safety</a:t>
            </a:r>
            <a:endParaRPr lang="en-US" sz="800" dirty="0"/>
          </a:p>
        </p:txBody>
      </p:sp>
      <p:sp>
        <p:nvSpPr>
          <p:cNvPr id="165" name="Text 163"/>
          <p:cNvSpPr/>
          <p:nvPr/>
        </p:nvSpPr>
        <p:spPr>
          <a:xfrm>
            <a:off x="1956816" y="4087368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limits enforced by sim engine</a:t>
            </a:r>
            <a:endParaRPr lang="en-US" sz="800" dirty="0"/>
          </a:p>
        </p:txBody>
      </p:sp>
      <p:sp>
        <p:nvSpPr>
          <p:cNvPr id="166" name="Text 164"/>
          <p:cNvSpPr/>
          <p:nvPr/>
        </p:nvSpPr>
        <p:spPr>
          <a:xfrm>
            <a:off x="4837176" y="4087368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V-N-02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7424928" y="4096512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7424928" y="409651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169" name="Shape 167"/>
          <p:cNvSpPr/>
          <p:nvPr/>
        </p:nvSpPr>
        <p:spPr>
          <a:xfrm>
            <a:off x="274320" y="4261104"/>
            <a:ext cx="6400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960120" y="4261104"/>
            <a:ext cx="91440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1920240" y="4261104"/>
            <a:ext cx="283464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800600" y="4261104"/>
            <a:ext cx="24688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7315200" y="4261104"/>
            <a:ext cx="150876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72"/>
          <p:cNvSpPr/>
          <p:nvPr/>
        </p:nvSpPr>
        <p:spPr>
          <a:xfrm>
            <a:off x="310896" y="4288536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SF-D-02</a:t>
            </a:r>
            <a:endParaRPr lang="en-US" sz="850" dirty="0"/>
          </a:p>
        </p:txBody>
      </p:sp>
      <p:sp>
        <p:nvSpPr>
          <p:cNvPr id="175" name="Text 173"/>
          <p:cNvSpPr/>
          <p:nvPr/>
        </p:nvSpPr>
        <p:spPr>
          <a:xfrm>
            <a:off x="996696" y="4288536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</a:rPr>
              <a:t>Safety</a:t>
            </a:r>
            <a:endParaRPr lang="en-US" sz="800" dirty="0"/>
          </a:p>
        </p:txBody>
      </p:sp>
      <p:sp>
        <p:nvSpPr>
          <p:cNvPr id="176" name="Text 174"/>
          <p:cNvSpPr/>
          <p:nvPr/>
        </p:nvSpPr>
        <p:spPr>
          <a:xfrm>
            <a:off x="1956816" y="4288536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limit: yellow banner + ack</a:t>
            </a:r>
            <a:endParaRPr lang="en-US" sz="800" dirty="0"/>
          </a:p>
        </p:txBody>
      </p:sp>
      <p:sp>
        <p:nvSpPr>
          <p:cNvPr id="177" name="Text 175"/>
          <p:cNvSpPr/>
          <p:nvPr/>
        </p:nvSpPr>
        <p:spPr>
          <a:xfrm>
            <a:off x="4837176" y="4288536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V-N-03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7424928" y="4297680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7424928" y="42976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274320" y="4462272"/>
            <a:ext cx="6400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960120" y="4462272"/>
            <a:ext cx="91440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1920240" y="4462272"/>
            <a:ext cx="283464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4800600" y="4462272"/>
            <a:ext cx="24688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7315200" y="4462272"/>
            <a:ext cx="150876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Text 183"/>
          <p:cNvSpPr/>
          <p:nvPr/>
        </p:nvSpPr>
        <p:spPr>
          <a:xfrm>
            <a:off x="310896" y="448970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SF-N-02</a:t>
            </a:r>
            <a:endParaRPr lang="en-US" sz="850" dirty="0"/>
          </a:p>
        </p:txBody>
      </p:sp>
      <p:sp>
        <p:nvSpPr>
          <p:cNvPr id="186" name="Text 184"/>
          <p:cNvSpPr/>
          <p:nvPr/>
        </p:nvSpPr>
        <p:spPr>
          <a:xfrm>
            <a:off x="996696" y="4489704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</a:rPr>
              <a:t>Safety</a:t>
            </a:r>
            <a:endParaRPr lang="en-US" sz="800" dirty="0"/>
          </a:p>
        </p:txBody>
      </p:sp>
      <p:sp>
        <p:nvSpPr>
          <p:cNvPr id="187" name="Text 185"/>
          <p:cNvSpPr/>
          <p:nvPr/>
        </p:nvSpPr>
        <p:spPr>
          <a:xfrm>
            <a:off x="1956816" y="448970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 always visible</a:t>
            </a:r>
            <a:endParaRPr lang="en-US" sz="800" dirty="0"/>
          </a:p>
        </p:txBody>
      </p:sp>
      <p:sp>
        <p:nvSpPr>
          <p:cNvPr id="188" name="Text 186"/>
          <p:cNvSpPr/>
          <p:nvPr/>
        </p:nvSpPr>
        <p:spPr>
          <a:xfrm>
            <a:off x="4837176" y="4489704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V-N-05, Access Test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7424928" y="4498848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188"/>
          <p:cNvSpPr/>
          <p:nvPr/>
        </p:nvSpPr>
        <p:spPr>
          <a:xfrm>
            <a:off x="7424928" y="44988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274320" y="4663440"/>
            <a:ext cx="6400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960120" y="4663440"/>
            <a:ext cx="91440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1920240" y="4663440"/>
            <a:ext cx="283464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4800600" y="4663440"/>
            <a:ext cx="246888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7315200" y="4663440"/>
            <a:ext cx="1508760" cy="192024"/>
          </a:xfrm>
          <a:prstGeom prst="rect">
            <a:avLst/>
          </a:prstGeom>
          <a:solidFill>
            <a:srgbClr val="0D1B2A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194"/>
          <p:cNvSpPr/>
          <p:nvPr/>
        </p:nvSpPr>
        <p:spPr>
          <a:xfrm>
            <a:off x="310896" y="4690872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SF-N-03</a:t>
            </a:r>
            <a:endParaRPr lang="en-US" sz="850" dirty="0"/>
          </a:p>
        </p:txBody>
      </p:sp>
      <p:sp>
        <p:nvSpPr>
          <p:cNvPr id="197" name="Text 195"/>
          <p:cNvSpPr/>
          <p:nvPr/>
        </p:nvSpPr>
        <p:spPr>
          <a:xfrm>
            <a:off x="996696" y="4690872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</a:rPr>
              <a:t>Safety</a:t>
            </a:r>
            <a:endParaRPr lang="en-US" sz="800" dirty="0"/>
          </a:p>
        </p:txBody>
      </p:sp>
      <p:sp>
        <p:nvSpPr>
          <p:cNvPr id="198" name="Text 196"/>
          <p:cNvSpPr/>
          <p:nvPr/>
        </p:nvSpPr>
        <p:spPr>
          <a:xfrm>
            <a:off x="1956816" y="4690872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@20% warn; @5% auto-stop</a:t>
            </a:r>
            <a:endParaRPr lang="en-US" sz="800" dirty="0"/>
          </a:p>
        </p:txBody>
      </p:sp>
      <p:sp>
        <p:nvSpPr>
          <p:cNvPr id="199" name="Text 197"/>
          <p:cNvSpPr/>
          <p:nvPr/>
        </p:nvSpPr>
        <p:spPr>
          <a:xfrm>
            <a:off x="4837176" y="4690872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(BatterySimulator)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7424928" y="4700016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Text 199"/>
          <p:cNvSpPr/>
          <p:nvPr/>
        </p:nvSpPr>
        <p:spPr>
          <a:xfrm>
            <a:off x="7424928" y="47000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274320" y="4864608"/>
            <a:ext cx="6400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960120" y="4864608"/>
            <a:ext cx="91440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1920240" y="4864608"/>
            <a:ext cx="283464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4800600" y="4864608"/>
            <a:ext cx="246888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7315200" y="4864608"/>
            <a:ext cx="1508760" cy="192024"/>
          </a:xfrm>
          <a:prstGeom prst="rect">
            <a:avLst/>
          </a:prstGeom>
          <a:solidFill>
            <a:srgbClr val="111E2B"/>
          </a:solidFill>
          <a:ln w="6350">
            <a:solidFill>
              <a:srgbClr val="3A4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 205"/>
          <p:cNvSpPr/>
          <p:nvPr/>
        </p:nvSpPr>
        <p:spPr>
          <a:xfrm>
            <a:off x="310896" y="4892040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SF-A-01</a:t>
            </a:r>
            <a:endParaRPr lang="en-US" sz="850" dirty="0"/>
          </a:p>
        </p:txBody>
      </p:sp>
      <p:sp>
        <p:nvSpPr>
          <p:cNvPr id="208" name="Text 206"/>
          <p:cNvSpPr/>
          <p:nvPr/>
        </p:nvSpPr>
        <p:spPr>
          <a:xfrm>
            <a:off x="996696" y="4892040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</a:rPr>
              <a:t>Safety</a:t>
            </a:r>
            <a:endParaRPr lang="en-US" sz="800" dirty="0"/>
          </a:p>
        </p:txBody>
      </p:sp>
      <p:sp>
        <p:nvSpPr>
          <p:cNvPr id="209" name="Text 207"/>
          <p:cNvSpPr/>
          <p:nvPr/>
        </p:nvSpPr>
        <p:spPr>
          <a:xfrm>
            <a:off x="1956816" y="4892040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Admin deletion blocked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4837176" y="4892040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V-A-02</a:t>
            </a:r>
            <a:endParaRPr lang="en-US" sz="800" dirty="0"/>
          </a:p>
        </p:txBody>
      </p:sp>
      <p:sp>
        <p:nvSpPr>
          <p:cNvPr id="211" name="Shape 209"/>
          <p:cNvSpPr/>
          <p:nvPr/>
        </p:nvSpPr>
        <p:spPr>
          <a:xfrm>
            <a:off x="7424928" y="4901184"/>
            <a:ext cx="1097280" cy="128016"/>
          </a:xfrm>
          <a:prstGeom prst="rect">
            <a:avLst/>
          </a:prstGeom>
          <a:solidFill>
            <a:srgbClr val="1B3A2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210"/>
          <p:cNvSpPr/>
          <p:nvPr/>
        </p:nvSpPr>
        <p:spPr>
          <a:xfrm>
            <a:off x="7424928" y="49011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Defined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85D"/>
          </a:solidFill>
          <a:ln w="12700">
            <a:solidFill>
              <a:srgbClr val="006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71422"/>
          </a:solidFill>
          <a:ln w="12700">
            <a:solidFill>
              <a:srgbClr val="0714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97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65760" y="1828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Infusion Pump Software Simulator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" y="22128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&amp; Requirements Report v4.0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926080"/>
            <a:ext cx="1005840" cy="822960"/>
          </a:xfrm>
          <a:prstGeom prst="rect">
            <a:avLst/>
          </a:prstGeom>
          <a:solidFill>
            <a:srgbClr val="0B1622"/>
          </a:solidFill>
          <a:ln w="1016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29718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38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65760" y="3364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across 5 categories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463040" y="2926080"/>
            <a:ext cx="1005840" cy="822960"/>
          </a:xfrm>
          <a:prstGeom prst="rect">
            <a:avLst/>
          </a:prstGeom>
          <a:solidFill>
            <a:srgbClr val="0B1622"/>
          </a:solidFill>
          <a:ln w="1016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463040" y="29718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10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463040" y="3364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states in simulation engine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560320" y="2926080"/>
            <a:ext cx="1005840" cy="822960"/>
          </a:xfrm>
          <a:prstGeom prst="rect">
            <a:avLst/>
          </a:prstGeom>
          <a:solidFill>
            <a:srgbClr val="0B1622"/>
          </a:solidFill>
          <a:ln w="1016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560320" y="29718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6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560320" y="3364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layers for full assurance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657600" y="2926080"/>
            <a:ext cx="1005840" cy="822960"/>
          </a:xfrm>
          <a:prstGeom prst="rect">
            <a:avLst/>
          </a:prstGeom>
          <a:solidFill>
            <a:srgbClr val="0B1622"/>
          </a:solidFill>
          <a:ln w="10160">
            <a:solidFill>
              <a:srgbClr val="006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0" y="29718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12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3657600" y="3364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test cases with traceability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6576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Riverpod  ·  GoRouter  ·  Supabase  ·  PostgreSQL  ·  Drift  ·  AES-256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2583</Words>
  <Application>Microsoft Office PowerPoint</Application>
  <PresentationFormat>On-screen Show (16:9)</PresentationFormat>
  <Paragraphs>617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Infusion Pump Software Simulator</dc:title>
  <dc:subject>PptxGenJS Presentation</dc:subject>
  <dc:creator>Technical Report v4.0</dc:creator>
  <cp:lastModifiedBy>Eslam Mohamed Taha Mrzok</cp:lastModifiedBy>
  <cp:revision>4</cp:revision>
  <dcterms:created xsi:type="dcterms:W3CDTF">2026-05-17T04:48:30Z</dcterms:created>
  <dcterms:modified xsi:type="dcterms:W3CDTF">2026-05-17T05:42:42Z</dcterms:modified>
</cp:coreProperties>
</file>